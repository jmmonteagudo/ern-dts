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1880000" cy="68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0" cy="684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1520000" cy="324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2200" b="1" i="0">
                <a:solidFill>
                  <a:srgbClr val="0A2A4A"/>
                </a:solidFill>
                <a:latin typeface="Calibri"/>
              </a:rPr>
              <a:t>My SAP AI Project —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396000"/>
            <a:ext cx="11520000" cy="19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SAP BTP · CAP · AI Core · ABAP Cloud side-by-side · Auto test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702000"/>
            <a:ext cx="234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 i="0">
                <a:solidFill>
                  <a:srgbClr val="2C5FA8"/>
                </a:solidFill>
                <a:latin typeface="Calibri"/>
              </a:rPr>
              <a:t>CONSUMERS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0" y="702000"/>
            <a:ext cx="396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 i="0">
                <a:solidFill>
                  <a:srgbClr val="3F7A37"/>
                </a:solidFill>
                <a:latin typeface="Calibri"/>
              </a:rPr>
              <a:t>SAP BTP — application +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0" y="702000"/>
            <a:ext cx="252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 i="0">
                <a:solidFill>
                  <a:srgbClr val="B82A4D"/>
                </a:solidFill>
                <a:latin typeface="Calibri"/>
              </a:rPr>
              <a:t>BACKENDS · ABAP side-by-side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0000" y="702000"/>
            <a:ext cx="216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" y="917999"/>
            <a:ext cx="2268000" cy="612000"/>
          </a:xfrm>
          <a:prstGeom prst="roundRect">
            <a:avLst/>
          </a:prstGeom>
          <a:solidFill>
            <a:srgbClr val="DBE9FF"/>
          </a:solidFill>
          <a:ln w="15875">
            <a:solidFill>
              <a:srgbClr val="2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Fiori Elements app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List Report + Object Page (Products)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000" y="1638000"/>
            <a:ext cx="2268000" cy="612000"/>
          </a:xfrm>
          <a:prstGeom prst="roundRect">
            <a:avLst/>
          </a:prstGeom>
          <a:solidFill>
            <a:srgbClr val="E8E8E8"/>
          </a:solidFill>
          <a:ln w="15875">
            <a:solidFill>
              <a:srgbClr val="A8A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909090"/>
                </a:solidFill>
                <a:latin typeface="Calibri"/>
              </a:rPr>
              <a:t>Microsoft Copilot</a:t>
            </a:r>
          </a:p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(out of scope today — target external AI client)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2358000"/>
            <a:ext cx="2268000" cy="612000"/>
          </a:xfrm>
          <a:prstGeom prst="roundRect">
            <a:avLst/>
          </a:prstGeom>
          <a:solidFill>
            <a:srgbClr val="E8E8E8"/>
          </a:solidFill>
          <a:ln w="15875">
            <a:solidFill>
              <a:srgbClr val="A8A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909090"/>
                </a:solidFill>
                <a:latin typeface="Calibri"/>
              </a:rPr>
              <a:t>Joule for End Users</a:t>
            </a:r>
          </a:p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(out of scope — needs SAP-managed launchpad)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" y="3078000"/>
            <a:ext cx="2268000" cy="503999"/>
          </a:xfrm>
          <a:prstGeom prst="roundRect">
            <a:avLst/>
          </a:prstGeom>
          <a:solidFill>
            <a:srgbClr val="DBE9FF"/>
          </a:solidFill>
          <a:ln w="15875">
            <a:solidFill>
              <a:srgbClr val="2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Test runner (CI)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wdi5 E2E + OPA5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0" y="917999"/>
            <a:ext cx="3960000" cy="612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CAP service (Node.js)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ProductService · OData v4 · CDS handlers · audit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0000" y="1638000"/>
            <a:ext cx="1872000" cy="612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MCP Server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vendor-agnostic interface for external AI 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88000" y="1638000"/>
            <a:ext cx="1872000" cy="612000"/>
          </a:xfrm>
          <a:prstGeom prst="roundRect">
            <a:avLst/>
          </a:prstGeom>
          <a:solidFill>
            <a:srgbClr val="FDE9D9"/>
          </a:solidFill>
          <a:ln w="15875">
            <a:solidFill>
              <a:srgbClr val="C66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Joule for Developers / J4C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BAS · auto-generates wdi5/OPA5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0000" y="2358000"/>
            <a:ext cx="3960000" cy="612000"/>
          </a:xfrm>
          <a:prstGeom prst="roundRect">
            <a:avLst/>
          </a:prstGeom>
          <a:solidFill>
            <a:srgbClr val="FDE9D9"/>
          </a:solidFill>
          <a:ln w="15875">
            <a:solidFill>
              <a:srgbClr val="C66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SAP AI Core — Orchestration Service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prompt templating · grounding · content filtering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0000" y="3078000"/>
            <a:ext cx="3960000" cy="503999"/>
          </a:xfrm>
          <a:prstGeom prst="roundRect">
            <a:avLst/>
          </a:prstGeom>
          <a:solidFill>
            <a:srgbClr val="FDE9D9"/>
          </a:solidFill>
          <a:ln w="15875">
            <a:solidFill>
              <a:srgbClr val="C66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Reasoning model via SAP Business AI Platform</a:t>
            </a:r>
          </a:p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Claude (primary, Anthropic partnership)  ·  Mistral  ·  Cohere  ·  Falcon  ·  GPT-class (Azure OpenAI)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0000" y="917999"/>
            <a:ext cx="2520000" cy="612000"/>
          </a:xfrm>
          <a:prstGeom prst="roundRect">
            <a:avLst/>
          </a:prstGeom>
          <a:solidFill>
            <a:srgbClr val="EADCF8"/>
          </a:solidFill>
          <a:ln w="15875">
            <a:solidFill>
              <a:srgbClr val="6B3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S/4HANA Private Cloud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Products API (OData v4)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0" y="1620000"/>
            <a:ext cx="2520000" cy="162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 i="1">
                <a:solidFill>
                  <a:srgbClr val="B82A4D"/>
                </a:solidFill>
                <a:latin typeface="Calibri"/>
              </a:rPr>
              <a:t>« ABAP Cloud — side-by-side · Clean Core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40000" y="1800000"/>
            <a:ext cx="2520000" cy="612000"/>
          </a:xfrm>
          <a:prstGeom prst="roundRect">
            <a:avLst/>
          </a:prstGeom>
          <a:solidFill>
            <a:srgbClr val="FAE0E4"/>
          </a:solidFill>
          <a:ln w="15875">
            <a:solidFill>
              <a:srgbClr val="B8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ZPRODUCTS (RAP, ABAP Cloud)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custom model extension (sample fields) · Released OData v4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0" y="2520000"/>
            <a:ext cx="2520000" cy="1044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• Lives in ABAP Environment (BTP), not in S/4 core
• Reads core product via S/4 Released API (OData)
• Adds extension fields in a local Z-table (BTP)
• Released APIs only · abapGit + Eclipse ADT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40000" y="917999"/>
            <a:ext cx="2160000" cy="612000"/>
          </a:xfrm>
          <a:prstGeom prst="roundRect">
            <a:avLst/>
          </a:prstGeom>
          <a:solidFill>
            <a:srgbClr val="DDDDDD"/>
          </a:solidFill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GitHub repo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monorepo: srv/, app/, abap/, test/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0000" y="1638000"/>
            <a:ext cx="2160000" cy="612000"/>
          </a:xfrm>
          <a:prstGeom prst="roundRect">
            <a:avLst/>
          </a:prstGeom>
          <a:solidFill>
            <a:srgbClr val="DDDDDD"/>
          </a:solidFill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CI/CD — GitHub Actions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lint · unit (Jest) · UI (OPA5/Karma) · wdi5 e2e · 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0000" y="2358000"/>
            <a:ext cx="2160000" cy="612000"/>
          </a:xfrm>
          <a:prstGeom prst="roundRect">
            <a:avLst/>
          </a:prstGeom>
          <a:solidFill>
            <a:srgbClr val="DDDDDD"/>
          </a:solidFill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SAP BTP — Cloud Foundry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ZPRODUCTS-srv runtime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0000" y="3078000"/>
            <a:ext cx="2160000" cy="503999"/>
          </a:xfrm>
          <a:prstGeom prst="roundRect">
            <a:avLst/>
          </a:prstGeom>
          <a:solidFill>
            <a:srgbClr val="DDDDDD"/>
          </a:solidFill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BTP Cockpit</a:t>
            </a:r>
          </a:p>
          <a:p>
            <a:pPr algn="ctr"/>
            <a:r>
              <a:rPr sz="800" b="0">
                <a:solidFill>
                  <a:srgbClr val="555555"/>
                </a:solidFill>
                <a:latin typeface="Calibri"/>
              </a:rPr>
              <a:t>Destinations · XSUAA · Connectivity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48000" y="1224000"/>
            <a:ext cx="252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48000" y="1944000"/>
            <a:ext cx="252000" cy="0"/>
          </a:xfrm>
          <a:prstGeom prst="line">
            <a:avLst/>
          </a:prstGeom>
          <a:ln w="19050">
            <a:solidFill>
              <a:srgbClr val="A8A8A8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48000" y="2664000"/>
            <a:ext cx="252000" cy="0"/>
          </a:xfrm>
          <a:prstGeom prst="line">
            <a:avLst/>
          </a:prstGeom>
          <a:ln w="19050">
            <a:solidFill>
              <a:srgbClr val="A8A8A8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48000" y="3330000"/>
            <a:ext cx="252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00000" y="1530000"/>
            <a:ext cx="0" cy="108000"/>
          </a:xfrm>
          <a:prstGeom prst="line">
            <a:avLst/>
          </a:prstGeom>
          <a:ln w="19050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80000" y="1530000"/>
            <a:ext cx="0" cy="108000"/>
          </a:xfrm>
          <a:prstGeom prst="line">
            <a:avLst/>
          </a:prstGeom>
          <a:ln w="19050">
            <a:solidFill>
              <a:srgbClr val="C66F1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80000" y="1530000"/>
            <a:ext cx="0" cy="828000"/>
          </a:xfrm>
          <a:prstGeom prst="line">
            <a:avLst/>
          </a:prstGeom>
          <a:ln w="19050">
            <a:solidFill>
              <a:srgbClr val="C66F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80000" y="2970000"/>
            <a:ext cx="0" cy="108000"/>
          </a:xfrm>
          <a:prstGeom prst="line">
            <a:avLst/>
          </a:prstGeom>
          <a:ln w="19050">
            <a:solidFill>
              <a:srgbClr val="C66F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60000" y="1080000"/>
            <a:ext cx="180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60000" y="1368000"/>
            <a:ext cx="180000" cy="647999"/>
          </a:xfrm>
          <a:prstGeom prst="line">
            <a:avLst/>
          </a:prstGeom>
          <a:ln w="19050">
            <a:solidFill>
              <a:srgbClr val="B82A4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00000" y="1530000"/>
            <a:ext cx="0" cy="270000"/>
          </a:xfrm>
          <a:prstGeom prst="line">
            <a:avLst/>
          </a:prstGeom>
          <a:ln w="19050">
            <a:solidFill>
              <a:srgbClr val="B82A4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20000" y="2250000"/>
            <a:ext cx="0" cy="108000"/>
          </a:xfrm>
          <a:prstGeom prst="line">
            <a:avLst/>
          </a:prstGeom>
          <a:ln w="19050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620000" y="1530000"/>
            <a:ext cx="0" cy="108000"/>
          </a:xfrm>
          <a:prstGeom prst="line">
            <a:avLst/>
          </a:prstGeom>
          <a:ln w="19050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0000" y="3816000"/>
            <a:ext cx="1152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 i="0">
                <a:solidFill>
                  <a:srgbClr val="0A2A4A"/>
                </a:solidFill>
                <a:latin typeface="Calibri"/>
              </a:rPr>
              <a:t>LEGEND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0000" y="4031999"/>
            <a:ext cx="180000" cy="144000"/>
          </a:xfrm>
          <a:prstGeom prst="rect">
            <a:avLst/>
          </a:prstGeom>
          <a:solidFill>
            <a:srgbClr val="DBE9FF"/>
          </a:solidFill>
          <a:ln w="12700">
            <a:solidFill>
              <a:srgbClr val="2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6000" y="4013999"/>
            <a:ext cx="223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Consumer (UI / agent / runner)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12000" y="4031999"/>
            <a:ext cx="180000" cy="144000"/>
          </a:xfrm>
          <a:prstGeom prst="rect">
            <a:avLst/>
          </a:prstGeom>
          <a:solidFill>
            <a:srgbClr val="E2F0D9"/>
          </a:solidFill>
          <a:ln w="12700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28000" y="4013999"/>
            <a:ext cx="223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BTP service / runtime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00000" y="4031999"/>
            <a:ext cx="180000" cy="144000"/>
          </a:xfrm>
          <a:prstGeom prst="rect">
            <a:avLst/>
          </a:prstGeom>
          <a:solidFill>
            <a:srgbClr val="FDE9D9"/>
          </a:solidFill>
          <a:ln w="12700">
            <a:solidFill>
              <a:srgbClr val="C66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6000" y="4013999"/>
            <a:ext cx="223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AI / reasoning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0000" y="4031999"/>
            <a:ext cx="180000" cy="144000"/>
          </a:xfrm>
          <a:prstGeom prst="rect">
            <a:avLst/>
          </a:prstGeom>
          <a:solidFill>
            <a:srgbClr val="EADCF8"/>
          </a:solidFill>
          <a:ln w="12700">
            <a:solidFill>
              <a:srgbClr val="6B3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6000" y="4013999"/>
            <a:ext cx="223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S/4HANA backend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72000" y="4031999"/>
            <a:ext cx="180000" cy="144000"/>
          </a:xfrm>
          <a:prstGeom prst="rect">
            <a:avLst/>
          </a:prstGeom>
          <a:solidFill>
            <a:srgbClr val="FAE0E4"/>
          </a:solidFill>
          <a:ln w="12700">
            <a:solidFill>
              <a:srgbClr val="B8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8000" y="4013999"/>
            <a:ext cx="223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ABAP Cloud (side-by-side)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60000" y="4031999"/>
            <a:ext cx="180000" cy="144000"/>
          </a:xfrm>
          <a:prstGeom prst="rect">
            <a:avLst/>
          </a:prstGeom>
          <a:solidFill>
            <a:srgbClr val="E8E8E8"/>
          </a:solidFill>
          <a:ln w="12700">
            <a:solidFill>
              <a:srgbClr val="A8A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76000" y="4013999"/>
            <a:ext cx="223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Out of scope (greyed)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80000" y="4338000"/>
            <a:ext cx="432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4000" y="4266000"/>
            <a:ext cx="288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« HTTP / OData » sync call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420000" y="4338000"/>
            <a:ext cx="431999" cy="0"/>
          </a:xfrm>
          <a:prstGeom prst="line">
            <a:avLst/>
          </a:prstGeom>
          <a:ln w="19050">
            <a:solidFill>
              <a:srgbClr val="C66F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924000" y="4266000"/>
            <a:ext cx="288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« AI / MCP » reasoning or tool call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20000" y="4338000"/>
            <a:ext cx="432000" cy="0"/>
          </a:xfrm>
          <a:prstGeom prst="line">
            <a:avLst/>
          </a:prstGeom>
          <a:ln w="19050">
            <a:solidFill>
              <a:srgbClr val="C66F1F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523999" y="4266000"/>
            <a:ext cx="288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 i="0">
                <a:solidFill>
                  <a:srgbClr val="101010"/>
                </a:solidFill>
                <a:latin typeface="Calibri"/>
              </a:rPr>
              <a:t>dashed = generative / advisory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0000" y="4572000"/>
            <a:ext cx="11520000" cy="212400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0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00" y="4626000"/>
            <a:ext cx="11160000" cy="19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  <a:latin typeface="Calibri"/>
              </a:rPr>
              <a:t>Example end-user flow — AI Core in 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0000" y="4842000"/>
            <a:ext cx="1116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1. End user opens Object Page of a product in Fiori Elements.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000" y="5076000"/>
            <a:ext cx="1116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2. User clicks « Suggest action » button → Fiori posts a CAP action: POST /Products(123)/suggestAction.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0000" y="5310000"/>
            <a:ext cx="1116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3. CAP handler reads core product from S/4 (Released API) and extension fields from ZPRODUCTS (BTP ABAP Environment).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000" y="5543999"/>
            <a:ext cx="1116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4. CAP calls SAP AI Core — Orchestration Service: prompt template + grounding data + content filter.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0000" y="5778000"/>
            <a:ext cx="1116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5. AI Core invokes the reasoning model (Claude) via SAP Business AI Platform, returns a textual recommendation.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0000" y="6012000"/>
            <a:ext cx="1116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6. CAP returns response to Fiori → shown in MessageBox or panel: « Reorder recommended — stock below threshold for next 7 days. »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000" y="6246000"/>
            <a:ext cx="1116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7. In parallel: Joule for Developers (BAS) auto-generates wdi5 / OPA5 tests covering this new action — committed to GitHub repo.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0" cy="684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1520000" cy="324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2200" b="1" i="0">
                <a:solidFill>
                  <a:srgbClr val="0A2A4A"/>
                </a:solidFill>
                <a:latin typeface="Calibri"/>
              </a:rPr>
              <a:t>Plan B — Sapphire 2026 overlay (optional, future iterations)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396000"/>
            <a:ext cx="11520000" cy="19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Component evolution: today  →  if Sapphire 2026 capabilities are adopted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792000"/>
            <a:ext cx="378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000" b="1" i="0">
                <a:solidFill>
                  <a:srgbClr val="3F7A37"/>
                </a:solidFill>
                <a:latin typeface="Calibri"/>
              </a:rPr>
              <a:t>Today (current PoC)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0000" y="792000"/>
            <a:ext cx="54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400" b="1" i="0">
                <a:solidFill>
                  <a:srgbClr val="101010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792000"/>
            <a:ext cx="378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000" b="1" i="0">
                <a:solidFill>
                  <a:srgbClr val="B8860B"/>
                </a:solidFill>
                <a:latin typeface="Calibri"/>
              </a:rPr>
              <a:t>If we adopt Sapphire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0" y="792000"/>
            <a:ext cx="306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1" i="0">
                <a:solidFill>
                  <a:srgbClr val="101010"/>
                </a:solidFill>
                <a:latin typeface="Calibri"/>
              </a:rP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" y="1007999"/>
            <a:ext cx="3780000" cy="540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Custom prompt templates + manual grounding over CDS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0000" y="1170000"/>
            <a:ext cx="54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800" b="1" i="0">
                <a:solidFill>
                  <a:srgbClr val="10101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1007999"/>
            <a:ext cx="3780000" cy="540000"/>
          </a:xfrm>
          <a:prstGeom prst="roundRect">
            <a:avLst/>
          </a:prstGeom>
          <a:solidFill>
            <a:srgbClr val="FFF7CC"/>
          </a:solidFill>
          <a:ln w="1587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1">
                <a:solidFill>
                  <a:srgbClr val="101010"/>
                </a:solidFill>
                <a:latin typeface="Calibri"/>
              </a:rPr>
              <a:t>SAP Domain Models (SAP-aware code/data models)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0" y="1062000"/>
            <a:ext cx="3060000" cy="46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Replaces ad-hoc grounding for SAP entities; less code to maintain.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" y="1620000"/>
            <a:ext cx="3780000" cy="540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MS Copilot + Joule integrated point-to-point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000" y="1782000"/>
            <a:ext cx="54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800" b="1" i="0">
                <a:solidFill>
                  <a:srgbClr val="10101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1620000"/>
            <a:ext cx="3780000" cy="540000"/>
          </a:xfrm>
          <a:prstGeom prst="roundRect">
            <a:avLst/>
          </a:prstGeom>
          <a:solidFill>
            <a:srgbClr val="FFF7CC"/>
          </a:solidFill>
          <a:ln w="1587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1">
                <a:solidFill>
                  <a:srgbClr val="101010"/>
                </a:solidFill>
                <a:latin typeface="Calibri"/>
              </a:rPr>
              <a:t>SAP AI Agent Hub — vendor-agnostic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0" y="1674000"/>
            <a:ext cx="3060000" cy="46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Catalog, lifecycle and compliance for any agent (SAP, MS, custom).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" y="2232000"/>
            <a:ext cx="3780000" cy="540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Fiori Elements as primary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0000" y="2394000"/>
            <a:ext cx="54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800" b="1" i="0">
                <a:solidFill>
                  <a:srgbClr val="10101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0000" y="2232000"/>
            <a:ext cx="3780000" cy="540000"/>
          </a:xfrm>
          <a:prstGeom prst="roundRect">
            <a:avLst/>
          </a:prstGeom>
          <a:solidFill>
            <a:srgbClr val="FFF7CC"/>
          </a:solidFill>
          <a:ln w="1587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1">
                <a:solidFill>
                  <a:srgbClr val="101010"/>
                </a:solidFill>
                <a:latin typeface="Calibri"/>
              </a:rPr>
              <a:t>Joule Work — dynamic AI-driven workspace (GA H2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0" y="2286000"/>
            <a:ext cx="3060000" cy="46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Same CDS + annotations are consumed by Joule Work downstream.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000" y="2844000"/>
            <a:ext cx="3780000" cy="540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Test generation via Joule for Developers (BAS)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3006000"/>
            <a:ext cx="54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800" b="1" i="0">
                <a:solidFill>
                  <a:srgbClr val="101010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0000" y="2844000"/>
            <a:ext cx="3780000" cy="540000"/>
          </a:xfrm>
          <a:prstGeom prst="roundRect">
            <a:avLst/>
          </a:prstGeom>
          <a:solidFill>
            <a:srgbClr val="FFF7CC"/>
          </a:solidFill>
          <a:ln w="1587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1">
                <a:solidFill>
                  <a:srgbClr val="101010"/>
                </a:solidFill>
                <a:latin typeface="Calibri"/>
              </a:rPr>
              <a:t>Joule Studio Agent Builder (GA Q3 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0000" y="2898000"/>
            <a:ext cx="3060000" cy="46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Custom agents for test generation as productized building blocks.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0000" y="3456000"/>
            <a:ext cx="3780000" cy="540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Generic AI use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40000" y="3617999"/>
            <a:ext cx="54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800" b="1" i="0">
                <a:solidFill>
                  <a:srgbClr val="101010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0000" y="3456000"/>
            <a:ext cx="3780000" cy="540000"/>
          </a:xfrm>
          <a:prstGeom prst="roundRect">
            <a:avLst/>
          </a:prstGeom>
          <a:solidFill>
            <a:srgbClr val="FFF7CC"/>
          </a:solidFill>
          <a:ln w="1587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1">
                <a:solidFill>
                  <a:srgbClr val="101010"/>
                </a:solidFill>
                <a:latin typeface="Calibri"/>
              </a:rPr>
              <a:t>Industry AI — Regulated Manufacturing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0000" y="3510000"/>
            <a:ext cx="3060000" cy="46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Pre-packaged scenario aligned to pharma / chemical clients.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0000" y="4067999"/>
            <a:ext cx="3780000" cy="540000"/>
          </a:xfrm>
          <a:prstGeom prst="roundRect">
            <a:avLst/>
          </a:prstGeom>
          <a:solidFill>
            <a:srgbClr val="E2F0D9"/>
          </a:solidFill>
          <a:ln w="15875">
            <a:solidFill>
              <a:srgbClr val="3F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AI Core deployment per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0000" y="4229999"/>
            <a:ext cx="540000" cy="21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1800" b="1" i="0">
                <a:solidFill>
                  <a:srgbClr val="101010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0000" y="4067999"/>
            <a:ext cx="3780000" cy="540000"/>
          </a:xfrm>
          <a:prstGeom prst="roundRect">
            <a:avLst/>
          </a:prstGeom>
          <a:solidFill>
            <a:srgbClr val="FFF7CC"/>
          </a:solidFill>
          <a:ln w="15875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l"/>
            <a:r>
              <a:rPr sz="1000" b="1">
                <a:solidFill>
                  <a:srgbClr val="101010"/>
                </a:solidFill>
                <a:latin typeface="Calibri"/>
              </a:rPr>
              <a:t>SAP Business AI Platform (Claude as primary reasoning model)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0000" y="4121999"/>
            <a:ext cx="3060000" cy="46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Anthropic partnership announced at Sapphire — Claude leads.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0000" y="4788000"/>
            <a:ext cx="11520000" cy="72000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B886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00" y="4842000"/>
            <a:ext cx="11160000" cy="19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100" b="1" i="0">
                <a:solidFill>
                  <a:srgbClr val="0A2A4A"/>
                </a:solidFill>
                <a:latin typeface="Calibri"/>
              </a:rPr>
              <a:t>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5022000"/>
            <a:ext cx="11160000" cy="46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• None of these Sapphire 2026 capabilities is a hard requirement for the current PoC.
• Each can be adopted independently as it reaches GA in our subaccount.
• The current architecture (slide 1) is forward-compatible: CDS, MCP and CI/CD foundations remain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